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83ce79fd2c4399" /><Relationship Type="http://schemas.openxmlformats.org/officeDocument/2006/relationships/extended-properties" Target="/docProps/app.xml" Id="Rd198b3076f0f491c" /><Relationship Type="http://schemas.openxmlformats.org/officeDocument/2006/relationships/officeDocument" Target="/ppt/presentation.xml" Id="Rdc5f794935044e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47b01460d04db0"/>
  </p:sldMasterIdLst>
  <p:notesMasterIdLst>
    <p:notesMasterId xmlns:r="http://schemas.openxmlformats.org/officeDocument/2006/relationships" r:id="R84b139eb0bf74daa"/>
  </p:notesMasterIdLst>
  <p:sldIdLst>
    <p:sldId xmlns:r="http://schemas.openxmlformats.org/officeDocument/2006/relationships" id="256" r:id="R4a7bf7ba54974515"/>
    <p:sldId xmlns:r="http://schemas.openxmlformats.org/officeDocument/2006/relationships" id="257" r:id="R7e89fb9ce0d54aef"/>
    <p:sldId xmlns:r="http://schemas.openxmlformats.org/officeDocument/2006/relationships" id="258" r:id="R65a0a262382a4c9f"/>
    <p:sldId xmlns:r="http://schemas.openxmlformats.org/officeDocument/2006/relationships" id="259" r:id="R8f4daedd77f94d1e"/>
    <p:sldId xmlns:r="http://schemas.openxmlformats.org/officeDocument/2006/relationships" id="260" r:id="R373be600e8494c36"/>
    <p:sldId xmlns:r="http://schemas.openxmlformats.org/officeDocument/2006/relationships" id="261" r:id="R93e6fe98b89243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1545c253c0483c" /><Relationship Type="http://schemas.openxmlformats.org/officeDocument/2006/relationships/slideMaster" Target="/ppt/slideMasters/slideMaster1.xml" Id="R3e47b01460d04db0" /><Relationship Type="http://schemas.openxmlformats.org/officeDocument/2006/relationships/notesMaster" Target="/ppt/notesMasters/notesMaster1.xml" Id="R84b139eb0bf74daa" /><Relationship Type="http://schemas.openxmlformats.org/officeDocument/2006/relationships/presProps" Target="/ppt/presProps.xml" Id="Ra921163193fb43a4" /><Relationship Type="http://schemas.openxmlformats.org/officeDocument/2006/relationships/tableStyles" Target="/ppt/tableStyles.xml" Id="Ra093733155744981" /><Relationship Type="http://schemas.openxmlformats.org/officeDocument/2006/relationships/slide" Target="/ppt/slides/slide1.xml" Id="R4a7bf7ba54974515" /><Relationship Type="http://schemas.openxmlformats.org/officeDocument/2006/relationships/slide" Target="/ppt/slides/slide2.xml" Id="R7e89fb9ce0d54aef" /><Relationship Type="http://schemas.openxmlformats.org/officeDocument/2006/relationships/slide" Target="/ppt/slides/slide3.xml" Id="R65a0a262382a4c9f" /><Relationship Type="http://schemas.openxmlformats.org/officeDocument/2006/relationships/slide" Target="/ppt/slides/slide4.xml" Id="R8f4daedd77f94d1e" /><Relationship Type="http://schemas.openxmlformats.org/officeDocument/2006/relationships/slide" Target="/ppt/slides/slide5.xml" Id="R373be600e8494c36" /><Relationship Type="http://schemas.openxmlformats.org/officeDocument/2006/relationships/slide" Target="/ppt/slides/slide6.xml" Id="R93e6fe98b89243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a5d12ee7ae4a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df89a77b144a27" /><Relationship Type="http://schemas.openxmlformats.org/officeDocument/2006/relationships/notesMaster" Target="/ppt/notesMasters/notesMaster1.xml" Id="Rc9158cdd2a1e41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b03a39cf604785" /><Relationship Type="http://schemas.openxmlformats.org/officeDocument/2006/relationships/notesMaster" Target="/ppt/notesMasters/notesMaster1.xml" Id="R17c20ecccd8140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140b8facff4532" /><Relationship Type="http://schemas.openxmlformats.org/officeDocument/2006/relationships/notesMaster" Target="/ppt/notesMasters/notesMaster1.xml" Id="Rfb8b8a73aee14e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be1773989647bb" /><Relationship Type="http://schemas.openxmlformats.org/officeDocument/2006/relationships/notesMaster" Target="/ppt/notesMasters/notesMaster1.xml" Id="Rfba843b9553741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b772955a24418b" /><Relationship Type="http://schemas.openxmlformats.org/officeDocument/2006/relationships/notesMaster" Target="/ppt/notesMasters/notesMaster1.xml" Id="Rbd57a2a3d8f440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e3a635aa044a4b" /><Relationship Type="http://schemas.openxmlformats.org/officeDocument/2006/relationships/notesMaster" Target="/ppt/notesMasters/notesMaster1.xml" Id="R2dbaee990e4b41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本项目来源：D:/forAirsim/docs/research-hermite-20261027/方法设计与论文接入.md；D:/forAirsim/docs/research-hermite-20261027/文献与数学依据.md。AI辅助实现、核对与草拟。</a:t>
            </a:r>
          </a:p>
          <a:p xmlns:a="http://schemas.openxmlformats.org/drawingml/2006/main">
            <a:r>
              <a:t>公开来源：Wang et al., Task-free Adaptive Meta Black-box Optimization, ICLR 2026, §3.2–3.3, https://arxiv.org/html/2601.21475v2 。ABOM的变异是搜索空间探索，不能直接解释为飞行外扰补偿。当前闭环模型不包含风、姿态或推力。原始ABOM.pptx仅作为机制资料，未修改。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本项目来源：D:/forAirsim/docs/research-hermite-20261027/方法设计与论文接入.md；D:/forAirsim/docs/research-hermite-20261027/文献与数学依据.md。AI辅助实现、核对与草拟。</a:t>
            </a:r>
          </a:p>
          <a:p xmlns:a="http://schemas.openxmlformats.org/drawingml/2006/main">
            <a:r>
              <a:t>数学来源：CMU, Curves (Hermite/Bézier basis and conversion), https://www.cs.cmu.edu/~fp/courses/graphics/pdf-2up/09-curves.pdf 。m为对归一化参数u的导数，不是直接的物理速度；u=(t-ti)/T。v=pu/T，a=puu/T²，j=puuu/T³。相同次数、相同端状态和相同时长下的精确换基不改变轨迹；不能将仅换基作为性能提升。凸包安全走廊依据：Gao et al., ICRA 2018, https://doi.org/10.1109/ICRA.2018.8462878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本项目来源：D:/forAirsim/docs/research-hermite-20261027/方法设计与论文接入.md；D:/forAirsim/docs/research-hermite-20261027/文献与数学依据.md。AI辅助实现、核对与草拟。</a:t>
            </a:r>
          </a:p>
          <a:p xmlns:a="http://schemas.openxmlformats.org/drawingml/2006/main">
            <a:r>
              <a:t>公式为本项目直接数学推导，不是ABOM原文机制。五次Hermite有每维6个系数，固定两端p/v/a后单段唯一。b(u)=64u³(1-u)³至少六次；b(1/2)=1，端点b=b'=b''=0；b'''(0)=384，b'''(1)=-384。升阶到六次Bézier后，中间控制点偏移3.2d，其余六点不变。该形变可在Bézier表示中等价实现，不能声称Hermite天然更抗扰。固定时长和端状态下，五次基线加形变的jerk平方积分增量147456||d||²/(7T⁵)。C²保持不保证C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本项目来源：D:/forAirsim/docs/research-hermite-20261027/方法设计与论文接入.md；D:/forAirsim/docs/research-hermite-20261027/文献与数学依据.md。AI辅助实现、核对与草拟。</a:t>
            </a:r>
          </a:p>
          <a:p xmlns:a="http://schemas.openxmlformats.org/drawingml/2006/main">
            <a:r>
              <a:t>科学图与数值来源：D:/forAirsim/reports/hermite_disturbance_20261027/geometry/curve_structure.png；geometry_results.json；python/run_curve_structure_study.py。图像保留原科学图上半部，未重绘数据。例子：p0=[0,0,5],p1=[8,0,5],T=4s,两端速度[2,0,0]、加速度0，形变d=[0,.8,0]。球中心[4,0,5],r=.4。基线VIOLATED，粗凸包UNRESOLVED，经de Casteljau细分后CERTIFIED，6个认证叶区间，最小认证AABB到球心距离下界0.6591796875m。此数值不是实际最小净空。证书是有限精度充分几何检查，不包含车辆跟踪误差、动力学或抗风结论。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本项目来源：D:/forAirsim/docs/research-hermite-20261027/方法设计与论文接入.md；D:/forAirsim/docs/research-hermite-20261027/文献与数学依据.md。AI辅助实现、核对与草拟。</a:t>
            </a:r>
          </a:p>
          <a:p xmlns:a="http://schemas.openxmlformats.org/drawingml/2006/main">
            <a:r>
              <a:t>已完成结果来源：D:/forAirsim/reports/hermite_disturbance_20261027/uncertainty_nominal/summary.json；uncertainty_margin/summary.json；各自manifest.json、selection.json与逐参考validation结果。两协议各5方法×20优化种子（30–49），每方法每种子128候选，种群16。每条训练选择冻结的参考在同一64球障碍压力条件下评价，条件在选择冻结后以seed20261028产生；它们是同一参考的相关几何测试。名义协议全部64条件通过的参考分别2/20、1/20、2/20、1/20、0/20，总计6/100；裕度协议每方法20/20，总计100/100。默认参考另算，不计100条优化参考。高斯平均参考时长由3.2991203018s增到3.5097256369s。裕度训练球半径0.75m、另加clearance0.1m，所覆盖的不确定性范围与生成方式以各manifest/源码为准，不能扩展为任意扰动保证。该试验仅有固定参考的连续几何/导数检查，没有控制器、车辆、风、感知或概率模型；6400个条件不能作为独立重复，更不能称飞行样本。另五维控制器先导search_pilot/summary.json：固定比例扰动相对ABOM的完成时间差探索性区间跨零，未建立明确收益。方向裕度实验仍在运行，此页没有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本项目来源：D:/forAirsim/docs/research-hermite-20261027/方法设计与论文接入.md；D:/forAirsim/docs/research-hermite-20261027/文献与数学依据.md。AI辅助实现、核对与草拟。</a:t>
            </a:r>
          </a:p>
          <a:p xmlns:a="http://schemas.openxmlformats.org/drawingml/2006/main">
            <a:r>
              <a:t>创新范围为待本项目实验证明的机制组合和应用效果。Hermite/Bézier换基、端点导数参数化、凸走廊约束以及多项式轨迹优化均有已有工作，不宜作为独立新理论主张。端点导数/系数双描述依据：Wang et al., ICRA 2021, https://arxiv.org/abs/2011.02662 。严格鲁棒约束需要模型与误差不变集等假设：Mayne et al., Automatica 2005, https://doi.org/10.1016/j.automatica.2004.08.019 。当前工作没有新增风场闭环实验，搜索扰动、感知扰动和飞行外扰应分别定义和评价。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fb954031e49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d98718c6243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4005a540b45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7cf5b2f384a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644a294e648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57a02ddc244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9CF756-4B24-44A3-943B-5116B5ED63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B310C1-2304-47CE-9848-2BF2ECF663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252ADE-B9B1-4F3A-9B47-34332D7C0F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1F1D66-DCC8-4F25-B1EC-C5899C7ECC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BC5F99-B19F-4B8E-9564-E05809B94F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0C28A0-0FA9-4D3D-8D24-F710A5B71E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EA2182-7756-4640-8F54-F4F7229593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E8F8A1-5A04-41D5-B094-44F4A51127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F45D72-4E65-4D0A-9D3A-4100501A3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85C877-8DB7-4D12-93BD-F936A205D7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f282a6b9704889" /><Relationship Type="http://schemas.openxmlformats.org/officeDocument/2006/relationships/slideLayout" Target="/ppt/slideLayouts/slideLayout1.xml" Id="R8e270c634fc34f70" /><Relationship Type="http://schemas.openxmlformats.org/officeDocument/2006/relationships/slideLayout" Target="/ppt/slideLayouts/slideLayout2.xml" Id="R89894c48b8f345d6" /><Relationship Type="http://schemas.openxmlformats.org/officeDocument/2006/relationships/slideLayout" Target="/ppt/slideLayouts/slideLayout3.xml" Id="R1245fc88c3dc4fca" /><Relationship Type="http://schemas.openxmlformats.org/officeDocument/2006/relationships/slideLayout" Target="/ppt/slideLayouts/slideLayout4.xml" Id="R8ef5c7c4dd744da6" /><Relationship Type="http://schemas.openxmlformats.org/officeDocument/2006/relationships/slideLayout" Target="/ppt/slideLayouts/slideLayout5.xml" Id="R0e94b3d4f620494b" /><Relationship Type="http://schemas.openxmlformats.org/officeDocument/2006/relationships/slideLayout" Target="/ppt/slideLayouts/slideLayout6.xml" Id="Rde5560a053b94b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70c634fc34f70"/>
    <p:sldLayoutId xmlns:r="http://schemas.openxmlformats.org/officeDocument/2006/relationships" id="2147483650" r:id="R89894c48b8f345d6"/>
    <p:sldLayoutId xmlns:r="http://schemas.openxmlformats.org/officeDocument/2006/relationships" id="2147483651" r:id="R1245fc88c3dc4fca"/>
    <p:sldLayoutId xmlns:r="http://schemas.openxmlformats.org/officeDocument/2006/relationships" id="2147483652" r:id="R8ef5c7c4dd744da6"/>
    <p:sldLayoutId xmlns:r="http://schemas.openxmlformats.org/officeDocument/2006/relationships" id="2147483653" r:id="R0e94b3d4f620494b"/>
    <p:sldLayoutId xmlns:r="http://schemas.openxmlformats.org/officeDocument/2006/relationships" id="2147483654" r:id="Rde5560a053b94b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ed2add125543a2" /><Relationship Type="http://schemas.openxmlformats.org/officeDocument/2006/relationships/notesSlide" Target="/ppt/notesSlides/notesSlide1.xml" Id="Rb082f0415d6840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706d1ad6c460a" /><Relationship Type="http://schemas.openxmlformats.org/officeDocument/2006/relationships/notesSlide" Target="/ppt/notesSlides/notesSlide2.xml" Id="Rb16625a525ec4f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728d04f91a46a8" /><Relationship Type="http://schemas.openxmlformats.org/officeDocument/2006/relationships/notesSlide" Target="/ppt/notesSlides/notesSlide3.xml" Id="R2083e87872f242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95667ac304838" /><Relationship Type="http://schemas.openxmlformats.org/officeDocument/2006/relationships/image" Target="/ppt/media/image.png" Id="Re7320f1f9f7946ec" /><Relationship Type="http://schemas.openxmlformats.org/officeDocument/2006/relationships/notesSlide" Target="/ppt/notesSlides/notesSlide4.xml" Id="Rcb017405c9dc46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6c0257379494b" /><Relationship Type="http://schemas.openxmlformats.org/officeDocument/2006/relationships/notesSlide" Target="/ppt/notesSlides/notesSlide5.xml" Id="R81677ec863fb47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20de0371640a2" /><Relationship Type="http://schemas.openxmlformats.org/officeDocument/2006/relationships/notesSlide" Target="/ppt/notesSlides/notesSlide6.xml" Id="Re95f2041bd374e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1A467-B0F1-40BA-8FCE-3FEC6BA6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rPr>
              <a:t>Hermite 曲线与结构化扰动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2B030-1AA6-4D14-875C-063A0B1A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rPr>
              <a:t>01  ·  2026-10-27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3540D-B992-42A8-80B8-E59A676C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0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rPr>
              <a:t>ABOM 搜索、曲线参数化与闭环执行的分层设计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C0F05-980C-4053-BD02-4BA64CDBDD81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4191000"/>
                <a:gridCol w="5162550"/>
              </a:tblGrid>
              <a:tr h="714375">
                <a:tc>
                  <a:txBody>
                    <a:bodyPr lIns="171450" tIns="114300" rIns="13335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T w="9525">
                      <a:solidFill>
                        <a:srgbClr val="C6D7D7"/>
                      </a:solidFill>
                      <a:prstDash val="solid"/>
                    </a:lnT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16333D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T w="9525">
                      <a:solidFill>
                        <a:srgbClr val="C6D7D7"/>
                      </a:solidFill>
                      <a:prstDash val="solid"/>
                    </a:lnT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16333D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当前接口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T w="9525">
                      <a:solidFill>
                        <a:srgbClr val="C6D7D7"/>
                      </a:solidFill>
                      <a:prstDash val="solid"/>
                    </a:lnT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16333D"/>
                    </a:solidFill>
                  </a:tcPr>
                </a:tc>
              </a:tr>
              <a:tr h="714375">
                <a:tc>
                  <a:txBody>
                    <a:bodyPr lIns="171450" tIns="114300" rIns="133350" bIns="114300"/>
                    <a:lstStyle/>
                    <a:p>
                      <a:r>
                        <a:rPr sz="187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7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提出候选参数，利用评价结果更新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7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 / 高斯 / ABOM / 混合扰动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71450" tIns="114300" rIns="133350" bIns="114300"/>
                    <a:lstStyle/>
                    <a:p>
                      <a:r>
                        <a:rPr sz="187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曲线解码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7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把参数转成满足端状态的参考轨迹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7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Hermite 端状态、Bézier 约束计算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71450" tIns="114300" rIns="133350" bIns="114300"/>
                    <a:lstStyle/>
                    <a:p>
                      <a:r>
                        <a:rPr sz="187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闭环评价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7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固定控制器检查执行结果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7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现有一阶滞后点质量模型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BB4F4-E7A6-4FFD-8305-3C16FC9B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rPr>
              <a:t>研究改进聚焦端状态保持与受约束搜索</a:t>
            </a:r>
          </a:p>
        </p:txBody>
      </p:sp>
    </p:spTree>
    <p:extLst>
      <p:ext uri="{BB962C8B-B14F-4D97-AF65-F5344CB8AC3E}">
        <p14:creationId xmlns:p14="http://schemas.microsoft.com/office/powerpoint/2010/main" val="429312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50981-3FE6-451D-BC99-8101DE08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rPr>
              <a:t>Hermite 与 Bézier 的同阶精确换基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E4172-8DBB-460F-87D6-C7A24A01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rPr>
              <a:t>02  ·  2026-10-27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DC346-04B4-4FA7-B50E-4AD1DEFE8F37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629150"/>
                <a:gridCol w="4629150"/>
              </a:tblGrid>
              <a:tr h="595313">
                <a:tc>
                  <a:txBody>
                    <a:bodyPr lIns="171450" tIns="114300" rIns="13335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T w="9525">
                      <a:solidFill>
                        <a:srgbClr val="C6D7D7"/>
                      </a:solidFill>
                      <a:prstDash val="solid"/>
                    </a:lnT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16333D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三次 Hermite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T w="9525">
                      <a:solidFill>
                        <a:srgbClr val="C6D7D7"/>
                      </a:solidFill>
                      <a:prstDash val="solid"/>
                    </a:lnT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16333D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三次 Bézier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T w="9525">
                      <a:solidFill>
                        <a:srgbClr val="C6D7D7"/>
                      </a:solidFill>
                      <a:prstDash val="solid"/>
                    </a:lnT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16333D"/>
                    </a:solidFill>
                  </a:tcPr>
                </a:tc>
              </a:tr>
              <a:tr h="595313"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直接参数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端点位置 p₀、p₁ 与切向量 m₀、m₁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四个控制点 B₀、B₁、B₂、B₃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端状态衔接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直接设置端点及导数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用相邻控制点差分设置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约束计算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换基后使用控制点凸包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控制点凸包给出充分条件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A2358-9BBB-4ADC-B126-35151283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defPPr>
            <a:lvl1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pPr>
            <a:r>
              <a:rPr sz="2700" b="0">
                <a:solidFill>
                  <a:srgbClr val="16333D"/>
                </a:solidFill>
                <a:latin typeface="Cambria"/>
                <a:ea typeface="Cambria"/>
                <a:cs typeface="Cambria"/>
              </a:rPr>
              <a:t>B₀ = p₀       B₁ = p₀ + m₀ /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72918-210A-457F-BF3C-ED6AB9D3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defPPr>
            <a:lvl1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pPr>
            <a:r>
              <a:rPr sz="2700" b="0">
                <a:solidFill>
                  <a:srgbClr val="16333D"/>
                </a:solidFill>
                <a:latin typeface="Cambria"/>
                <a:ea typeface="Cambria"/>
                <a:cs typeface="Cambria"/>
              </a:rPr>
              <a:t>B₂ = p₁ − m₁ / 3       B₃ = p₁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9FFD1-C770-4F64-B2E9-6AD9FAB7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rPr>
              <a:t>物理速度输入：m = Tv；同一曲线的 p、v、a、j 保持一致</a:t>
            </a:r>
          </a:p>
        </p:txBody>
      </p:sp>
    </p:spTree>
    <p:extLst>
      <p:ext uri="{BB962C8B-B14F-4D97-AF65-F5344CB8AC3E}">
        <p14:creationId xmlns:p14="http://schemas.microsoft.com/office/powerpoint/2010/main" val="1145625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C2FAF-1A78-477E-AEF1-1A430EDF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rPr>
              <a:t>五次端状态段与六次中段形变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A1108-5B6E-408E-8EEC-6CA77183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rPr>
              <a:t>03  ·  2026-10-27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4B033-7D94-488A-8DC1-F702866C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rPr>
              <a:t>两端 p、v、a 全部固定后，五次单段已无剩余形状自由度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D391F-9D41-448A-8A0F-339D979F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defPPr>
            <a:lvl1pPr algn="l">
              <a:defRPr sz="33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1pPr>
            <a:lvl2pPr algn="l">
              <a:defRPr sz="33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2pPr>
            <a:lvl3pPr algn="l">
              <a:defRPr sz="33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3pPr>
            <a:lvl4pPr algn="l">
              <a:defRPr sz="33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4pPr>
            <a:lvl5pPr algn="l">
              <a:defRPr sz="33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5pPr>
            <a:lvl6pPr algn="l">
              <a:defRPr sz="33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6pPr>
            <a:lvl7pPr algn="l">
              <a:defRPr sz="33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7pPr>
            <a:lvl8pPr algn="l">
              <a:defRPr sz="33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8pPr>
            <a:lvl9pPr algn="l">
              <a:defRPr sz="33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16333D"/>
                </a:solidFill>
                <a:latin typeface="Cambria"/>
                <a:ea typeface="Cambria"/>
                <a:cs typeface="Cambria"/>
              </a:defRPr>
            </a:pPr>
            <a:r>
              <a:rPr sz="3300" b="0">
                <a:solidFill>
                  <a:srgbClr val="16333D"/>
                </a:solidFill>
                <a:latin typeface="Cambria"/>
                <a:ea typeface="Cambria"/>
                <a:cs typeface="Cambria"/>
              </a:rPr>
              <a:t>q(u) = pH(u) + 64u³(1 − u)³ 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F83C7-E9A9-4570-9349-E541EAB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rPr>
              <a:t>b、b′、b″ 在两端均为零；最大位置偏移为 ‖d‖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17C44-577D-4E1D-8948-39C846EEBAAF}"/>
              </a:ext>
            </a:extLst>
          </p:cNvPr>
          <p:cNvGraphicFramePr/>
          <p:nvPr/>
        </p:nvGraphicFramePr>
        <p:xfrm>
          <a:off xmlns:a="http://schemas.openxmlformats.org/drawingml/2006/main" x="609600" y="3886200"/>
          <a:ext xmlns:a="http://schemas.openxmlformats.org/drawingml/2006/main" cx="10972800" cy="1638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3429000"/>
                <a:gridCol w="4019550"/>
              </a:tblGrid>
              <a:tr h="546100">
                <a:tc>
                  <a:txBody>
                    <a:bodyPr lIns="171450" tIns="114300" rIns="13335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保持的量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T w="9525">
                      <a:solidFill>
                        <a:srgbClr val="C6D7D7"/>
                      </a:solidFill>
                      <a:prstDash val="solid"/>
                    </a:lnT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16333D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新增自由度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T w="9525">
                      <a:solidFill>
                        <a:srgbClr val="C6D7D7"/>
                      </a:solidFill>
                      <a:prstDash val="solid"/>
                    </a:lnT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16333D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必须重新检查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T w="9525">
                      <a:solidFill>
                        <a:srgbClr val="C6D7D7"/>
                      </a:solidFill>
                      <a:prstDash val="solid"/>
                    </a:lnT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16333D"/>
                    </a:solidFill>
                  </a:tcPr>
                </a:tc>
              </a:tr>
              <a:tr h="546100"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端点位置、速度、加速度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三维中段偏移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走廊、速度、加速度、jerk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段间 C²（共享同一端状态）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五次基线升为六次曲线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800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端点 jerk 改变 ±384d / T³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9B273-ED6D-4AA3-9979-F77A8B32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rPr>
              <a:t>扰动用于探索任务可行形状；它会消耗导数预算</a:t>
            </a:r>
          </a:p>
        </p:txBody>
      </p:sp>
    </p:spTree>
    <p:extLst>
      <p:ext uri="{BB962C8B-B14F-4D97-AF65-F5344CB8AC3E}">
        <p14:creationId xmlns:p14="http://schemas.microsoft.com/office/powerpoint/2010/main" val="183996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B8764-CAC5-4FA9-915E-B37A8CEF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rPr>
              <a:t>连续几何检查与端状态保持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ECB77-1024-4B6C-9E26-D31561D1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rPr>
              <a:t>04  ·  2026-10-27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16D57-09EE-4A96-8C5A-F6A5E99C79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20f1f9f7946ec"/>
          <a:srcRect xmlns:a="http://schemas.openxmlformats.org/drawingml/2006/main" l="0" t="0" r="0" b="51000"/>
          <a:stretch xmlns:a="http://schemas.openxmlformats.org/drawingml/2006/main"/>
        </p:blipFill>
        <p:spPr>
          <a:xfrm xmlns:a="http://schemas.openxmlformats.org/drawingml/2006/main">
            <a:off x="609600" y="1285875"/>
            <a:ext cx="10972800" cy="3857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B269E-85FF-45F1-B51B-73AD4731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rPr>
              <a:t>直线穿过球障碍；形变后的参考经 6 个子区间检查通过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214A0-35B0-4BB2-833D-DA7762E4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rPr>
              <a:t>凸包未通过先细分；深度耗尽记为未能认证</a:t>
            </a:r>
          </a:p>
        </p:txBody>
      </p:sp>
    </p:spTree>
    <p:extLst>
      <p:ext uri="{BB962C8B-B14F-4D97-AF65-F5344CB8AC3E}">
        <p14:creationId xmlns:p14="http://schemas.microsoft.com/office/powerpoint/2010/main" val="11829987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4566A-E529-40A2-9237-74DFA62F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rPr>
              <a:t>不确定性裕度与固定参考可行性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E3D43-A59F-4CA4-A1E1-1F6ED05E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rPr>
              <a:t>05  ·  2026-10-27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7E3CA-5986-4CE1-BFA3-48522A88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rPr>
              <a:t>固定参考几何压力测试：5法×20优化种子，各测64个球条件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B18DE-BF62-4B6E-B2EC-EFDC87D7DDD7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1619250"/>
                <a:gridCol w="1619250"/>
                <a:gridCol w="4876800"/>
              </a:tblGrid>
              <a:tr h="514350">
                <a:tc>
                  <a:txBody>
                    <a:bodyPr lIns="171450" tIns="114300" rIns="13335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T w="9525">
                      <a:solidFill>
                        <a:srgbClr val="C6D7D7"/>
                      </a:solidFill>
                      <a:prstDash val="solid"/>
                    </a:lnT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16333D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T w="9525">
                      <a:solidFill>
                        <a:srgbClr val="C6D7D7"/>
                      </a:solidFill>
                      <a:prstDash val="solid"/>
                    </a:lnT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16333D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裕度通过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T w="9525">
                      <a:solidFill>
                        <a:srgbClr val="C6D7D7"/>
                      </a:solidFill>
                      <a:prstDash val="solid"/>
                    </a:lnT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16333D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平均参考时长 T (s)：名义 → 裕度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T w="9525">
                      <a:solidFill>
                        <a:srgbClr val="C6D7D7"/>
                      </a:solidFill>
                      <a:prstDash val="solid"/>
                    </a:lnT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16333D"/>
                    </a:solidFill>
                  </a:tcPr>
                </a:tc>
              </a:tr>
              <a:tr h="514350"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20/20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3.5077 → 3.6377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EDF4F3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1/20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EDF4F3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20/20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EDF4F3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3.2991 → 3.5097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EDF4F3"/>
                    </a:solidFill>
                  </a:tcPr>
                </a:tc>
              </a:tr>
              <a:tr h="514350"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ABOM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20/20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3.7250 → 3.9134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ABOM+固定比例扰动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1/20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20/20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3.3652 → 3.6186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ABOM+触发扰动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7D7"/>
                      </a:solidFill>
                      <a:prstDash val="solid"/>
                    </a:lnL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20/20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725" b="0">
                          <a:solidFill>
                            <a:srgbClr val="1633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3.6473 → 3.8816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7D7"/>
                      </a:solidFill>
                      <a:prstDash val="solid"/>
                    </a:lnR>
                    <a:lnB w="9525">
                      <a:solidFill>
                        <a:srgbClr val="C6D7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A0628-C0AB-4E35-A5C2-4AFA7469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rPr>
              <a:t>全部64条件通过的优化参考：名义 6/100，裕度 100/100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87FD1-A09C-4A0A-B924-1DDCB737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rPr>
              <a:t>比较单元为20个优化种子；方法配对、条件相关；非飞行结果</a:t>
            </a:r>
          </a:p>
        </p:txBody>
      </p:sp>
    </p:spTree>
    <p:extLst>
      <p:ext uri="{BB962C8B-B14F-4D97-AF65-F5344CB8AC3E}">
        <p14:creationId xmlns:p14="http://schemas.microsoft.com/office/powerpoint/2010/main" val="1216673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BF7F2-3AA5-4473-B755-B14E19DD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rPr>
              <a:t>论文贡献定位与联合验证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4E52C-78DA-44B4-9FDE-3154B8ED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6C"/>
                </a:solidFill>
                <a:latin typeface="Microsoft YaHei"/>
                <a:ea typeface="Microsoft YaHei"/>
                <a:cs typeface="Microsoft YaHei"/>
              </a:rPr>
              <a:t>06  ·  2026-10-27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E8ECA-F148-4D9D-BA20-30CE7A18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rPr>
              <a:t>可作为方法机制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A05C7-0637-4D99-8E03-0E9E5B89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rPr>
              <a:t>以实测端状态构造参考段，明确哪些参数可搜索。</a:t>
            </a:r>
          </a:p>
          <a:p xmlns:a="http://schemas.openxmlformats.org/drawingml/2006/main">
            <a: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rPr>
              <a:t>用边界保持形变探索中段，并按剩余导数预算限制幅值。</a:t>
            </a:r>
          </a:p>
          <a:p xmlns:a="http://schemas.openxmlformats.org/drawingml/2006/main">
            <a: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rPr>
              <a:t>在等预算对照中检验神经候选生成是否提供额外收益。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6BD1D-4CA5-4D1A-A6D4-3591602D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D80"/>
                </a:solidFill>
                <a:latin typeface="Microsoft YaHei"/>
                <a:ea typeface="Microsoft YaHei"/>
                <a:cs typeface="Microsoft YaHei"/>
              </a:rPr>
              <a:t>下一步证据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91B52-F9D6-4C1C-A8BB-47C0CFC1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rPr>
              <a:t>统一 Hermite 解码与固定跟踪控制器，保留接缝 jerk。</a:t>
            </a:r>
          </a:p>
          <a:p xmlns:a="http://schemas.openxmlformats.org/drawingml/2006/main">
            <a: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rPr>
              <a:t>冻结场景和种子，单独验证时延、感知与外力扰动。</a:t>
            </a:r>
          </a:p>
          <a:p xmlns:a="http://schemas.openxmlformats.org/drawingml/2006/main">
            <a:pPr algn="l">
              <a:def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D"/>
                </a:solidFill>
                <a:latin typeface="Microsoft YaHei"/>
                <a:ea typeface="Microsoft YaHei"/>
                <a:cs typeface="Microsoft YaHei"/>
              </a:rPr>
              <a:t>报告可行率、净空、跟踪误差、任务质量与计算成本。</a:t>
            </a:r>
          </a:p>
        </p:txBody>
      </p:sp>
    </p:spTree>
    <p:extLst>
      <p:ext uri="{BB962C8B-B14F-4D97-AF65-F5344CB8AC3E}">
        <p14:creationId xmlns:p14="http://schemas.microsoft.com/office/powerpoint/2010/main" val="1819690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2026-10-27T01:26:08.0570000Z</dcterms:created>
  <dcterms:modified xsi:type="dcterms:W3CDTF">2026-10-27T01:26:08.0570000Z</dcterms:modified>
</coreProperties>
</file>